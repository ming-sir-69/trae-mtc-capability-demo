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【封面/入口页】展示：按钮式交互 + 相对路径联动。
验证：点击三个按钮分别打开 xlsx/html/pdf。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【目录页】用于引导审阅：每一个点在后面都有独立 Demo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【分节页】后处理将为分节页加 transition，放映时可见页面切换效果。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【视频页】展示：插入 mp4 视频对象。
验证：放映模式点击播放；并点击按钮打开本地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【音频页】展示：PPT 内嵌 audio 对象（非外链）。
验证：放映模式点击“播放提示音”文字按钮区域，确认可播放。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【GIF 页】展示：生成 GIF 资产 + 在 PPT 中插入 GIF。
验证：放映模式观察 GIF 是否动起来（不同版本可能有差异）。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【表格页】展示：从 Excel 抽取数据，生成 PPT 原生可编辑表格对象（addTable）。
验证：在 PPT 里直接编辑表格单元格；并可点击按钮回源打开 Excel。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【证据矩阵】让每个工具能力点都能落到“证据 + 复现动作”。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【边界页】把“不能做/不建议做”的点写清楚，避免误解。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【清单页】强调“产物 + 复用资产”都是能力的一部分。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MTC_&#22797;&#26434;Excel&#27169;&#22411;.xlsx" TargetMode="External"/><Relationship Id="rId2" Type="http://schemas.openxmlformats.org/officeDocument/2006/relationships/hyperlink" Target="interactive/3D_&#21487;&#20132;&#20114;&#38144;&#21806;&#20202;&#34920;&#30424;.html" TargetMode="External"/><Relationship Id="rId3" Type="http://schemas.openxmlformats.org/officeDocument/2006/relationships/hyperlink" Target="assets/MTC_&#22797;&#26434;Excel&#27169;&#22411;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3.xml" /><ns0:Relationship Id="rId3" Type="http://schemas.openxmlformats.org/officeDocument/2006/relationships/audio" Target="../media/sfx-tr-01.wav" /></ns0:Relationships>
</file>

<file path=ppt/slides/_rels/slide4.xml.rels><?xml version='1.0' encoding='UTF-8'?>
<ns0:Relationships xmlns:ns0="http://schemas.openxmlformats.org/package/2006/relationships"><ns0:Relationship Id="rId4" Type="http://schemas.openxmlformats.org/officeDocument/2006/relationships/hyperlink" Target="interactive/3D_&#21487;&#20132;&#20114;&#38144;&#21806;&#20202;&#34920;&#30424;.html" TargetMode="External" /><ns0:Relationship Id="rId1" Type="http://schemas.openxmlformats.org/officeDocument/2006/relationships/video" Target="../media/media-4-1.mp4" /><ns0:Relationship Id="rId2" Type="http://schemas.microsoft.com/office/2007/relationships/media" Target="../media/media-4-1.mp4" /><ns0:Relationship Id="rId3" Type="http://schemas.openxmlformats.org/officeDocument/2006/relationships/image" Target="../media/image-4-3.png" /><ns0:Relationship Id="rId5" Type="http://schemas.openxmlformats.org/officeDocument/2006/relationships/slideLayout" Target="../slideLayouts/slideLayout1.xml" /><ns0:Relationship Id="rId6" Type="http://schemas.openxmlformats.org/officeDocument/2006/relationships/notesSlide" Target="../notesSlides/notesSlide4.xml" /><ns0:Relationship Id="rId7" Type="http://schemas.openxmlformats.org/officeDocument/2006/relationships/audio" Target="../media/sfx-tr-02.wav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audio" Target="../media/media-5-1.wav" /><ns0:Relationship Id="rId2" Type="http://schemas.microsoft.com/office/2007/relationships/media" Target="../media/media-5-1.wav" /><ns0:Relationship Id="rId3" Type="http://schemas.openxmlformats.org/officeDocument/2006/relationships/image" Target="../media/image-5-3.png" /><ns0:Relationship Id="rId4" Type="http://schemas.openxmlformats.org/officeDocument/2006/relationships/slideLayout" Target="../slideLayouts/slideLayout1.xml" /><ns0:Relationship Id="rId5" Type="http://schemas.openxmlformats.org/officeDocument/2006/relationships/notesSlide" Target="../notesSlides/notesSlide5.xml" /><ns0:Relationship Id="rId6" Type="http://schemas.openxmlformats.org/officeDocument/2006/relationships/audio" Target="../media/sfx-tr-03.wav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image" Target="../media/image-6-1.gif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6.xml" /><ns0:Relationship Id="rId4" Type="http://schemas.openxmlformats.org/officeDocument/2006/relationships/audio" Target="../media/sfx-tr-04.wav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hyperlink" Target="MTC_&#22797;&#26434;Excel&#27169;&#22411;.xlsx" TargetMode="External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7.xml" /><ns0:Relationship Id="rId4" Type="http://schemas.openxmlformats.org/officeDocument/2006/relationships/audio" Target="../media/sfx-tr-05.wav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notesSlide" Target="../notesSlides/notesSlide8.xml" /><ns0:Relationship Id="rId3" Type="http://schemas.openxmlformats.org/officeDocument/2006/relationships/audio" Target="../media/sfx-tr-06.wav" /></ns0: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能力演示（PPT 工具能力武器库）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目标：让你一眼看到“我能在 PPT 里用哪些工具做什么”，并且可核验。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12471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一键打开（相对路径，便于可复核联动）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Excel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457200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3D 网页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2514600"/>
            <a:ext cx="32918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8138160" y="2606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 PDF 证据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注意：Excel for Mac 打开 PPT 入口建议走 Office URI Scheme（详见 00_error 与 00_README）。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 PPT 将显式演示的“工具能力点”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1) 视频插入/嵌入（可播放）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2) 音频插入/嵌入（可播放）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3) GIF 动图生成 + 插入（可见动效）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4) 页面切换 transition（放映可观察）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5) Excel 表格数据 → PPT 可编辑 Table（非截图）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6) Speaker Notes（每页讲解脚本/验证口径）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3A8A"/>
                </a:solidFill>
              </a:rPr>
              <a:t>• 7) 可复用版式与组件（标题条/卡片/按钮/证据矩阵）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ns1="http://schemas.openxmlformats.org/drawingml/2006/main" xmlns:p="http://schemas.openxmlformats.org/presentationml/2006/main" xmlns:r="http://schemas.openxmlformats.org/officeDocument/2006/relationships">
  <p:cSld name="Slide 3">
    <p:bg>
      <p:bgPr>
        <ns1:solidFill>
          <ns1:srgbClr val="1E40AF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Text 0"/>
          <p:cNvSpPr/>
          <p:nvPr/>
        </p:nvSpPr>
        <p:spPr>
          <ns1:xfrm>
            <ns1:off x="731520" y="2194560"/>
            <ns1:ext cx="11247120" cy="109728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5400" b="1" dirty="0">
                <ns1:solidFill>
                  <ns1:srgbClr val="FFFFFF"/>
                </ns1:solidFill>
              </ns1:rPr>
              <ns1:t>工具能力 Demo 区</ns1:t>
            </ns1:r>
            <ns1:endParaRPr lang="en-US" sz="5400" dirty="0"/>
          </ns1:p>
        </p:txBody>
      </p:sp>
      <p:sp>
        <p:nvSpPr>
          <p:cNvPr id="3" name="Text 1"/>
          <p:cNvSpPr/>
          <p:nvPr/>
        </p:nvSpPr>
        <p:spPr>
          <ns1:xfrm>
            <ns1:off x="731520" y="3291840"/>
            <ns1:ext cx="1124712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800" dirty="0">
                <ns1:solidFill>
                  <ns1:srgbClr val="DBEAFE"/>
                </ns1:solidFill>
              </ns1:rPr>
              <ns1:t>Video / Audio / GIF / Transition / Excel Table / Notes</ns1:t>
            </ns1:r>
            <ns1:endParaRPr lang="en-US" sz="1800" dirty="0"/>
          </ns1:p>
        </p:txBody>
      </p:sp>
    </p:spTree>
  </p:cSld>
  <p:transition spd="med">
    <p:blinds dir="horz"/>
    <p:sndAc>
      <p:stSnd>
        <p:snd r:embed="rId3"/>
      </p:stSnd>
    </p:sndAc>
  </p:transition>
  <p:clrMapOvr>
    <ns1:masterClrMapping/>
  </p:clrMapOvr>
</p:sld>
</file>

<file path=ppt/slides/slide4.xml><?xml version="1.0" encoding="utf-8"?>
<p:sld xmlns:ns1="http://schemas.openxmlformats.org/drawingml/2006/main" xmlns:ns3="http://schemas.microsoft.com/office/powerpoint/2010/main" xmlns:ns4="http://schemas.microsoft.com/office/drawing/2018/hyperlinkcolor" xmlns:p="http://schemas.openxmlformats.org/presentationml/2006/main" xmlns:r="http://schemas.openxmlformats.org/officeDocument/2006/relationships">
  <p:cSld name="Slide 4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①：视频插入（可播放）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658368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pic>
        <p:nvPicPr>
          <p:cNvPr id="3" name="Media 0">
            <ns1:hlinkClick r:id="" action="ppaction://media"/>
          </p:cNvPr>
          <p:cNvPicPr>
            <ns1:picLocks noChangeAspect="1"/>
          </p:cNvPicPr>
          <p:nvPr>
            <ns1:videoFile r:link="rId1"/>
            <p:extLst>
              <p:ext uri="{DAA4B4D4-6D71-4841-9C94-3DE7FCFB9230}">
                <ns3:media r:embed="rId2"/>
              </p:ext>
            </p:extLst>
          </p:nvPr>
        </p:nvPicPr>
        <p:blipFill>
          <ns1:blip r:embed="rId3"/>
          <ns1:stretch>
            <ns1:fillRect/>
          </ns1:stretch>
        </p:blipFill>
        <p:spPr>
          <ns1:xfrm>
            <ns1:off x="914400" y="1508760"/>
            <ns1:ext cx="6217920" cy="4297680"/>
          </ns1:xfrm>
          <ns1:prstGeom prst="rect">
            <ns1:avLst/>
          </ns1:prstGeom>
        </p:spPr>
      </p:pic>
      <p:sp>
        <p:nvSpPr>
          <p:cNvPr id="6" name="Shape 3"/>
          <p:cNvSpPr/>
          <p:nvPr/>
        </p:nvSpPr>
        <p:spPr>
          <ns1:xfrm>
            <ns1:off x="7589520" y="1280160"/>
            <ns1:ext cx="4389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7" name="Text 4"/>
          <p:cNvSpPr/>
          <p:nvPr/>
        </p:nvSpPr>
        <p:spPr>
          <ns1:xfrm>
            <ns1:off x="7863840" y="1600200"/>
            <ns1:ext cx="3840480" cy="21945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验证方法：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1) 进入放映</ns1:t>
            </ns1: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2) 点击视频播放</ns1:t>
            </ns1:r>
            <ns1:endParaRPr lang="en-US" sz="1400" dirty="0"/>
          </ns1:p>
          <ns1:p>
            <ns1:pPr indent="0" marL="0">
              <ns1:buNone/>
            </ns1:pP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补充：同页提供网页入口（强交互）。</ns1:t>
            </ns1:r>
            <ns1:endParaRPr lang="en-US" sz="1400" dirty="0"/>
          </ns1:p>
        </p:txBody>
      </p:sp>
      <p:sp>
        <p:nvSpPr>
          <p:cNvPr id="8" name="Shape 5"/>
          <p:cNvSpPr/>
          <p:nvPr/>
        </p:nvSpPr>
        <p:spPr>
          <ns1:xfrm>
            <ns1:off x="7955280" y="4206240"/>
            <ns1:ext cx="3840480" cy="548640"/>
          </ns1:xfrm>
          <ns1:prstGeom prst="roundRect">
            <ns1:avLst/>
          </ns1:prstGeom>
          <ns1:solidFill>
            <ns1:srgbClr val="F59E0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9" name="Text 6">
            <ns1:hlinkClick r:id="rId4" tooltip=""/>
          </p:cNvPr>
          <p:cNvSpPr/>
          <p:nvPr/>
        </p:nvSpPr>
        <p:spPr>
          <ns1:xfrm>
            <ns1:off x="7955280" y="4297680"/>
            <ns1:ext cx="3840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600" b="1" u="sng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  <ns1:hlinkClick r:id="rId4" invalidUrl="" action="" tgtFrame="" tooltip="" history="1" highlightClick="0" endSnd="0">
                  <ns1:extLst>
                    <ns1:ext uri="{A12FA001-AC4F-418D-AE19-62706E023703}">
                      <ns4:hlinkClr val="tx"/>
                    </ns1:ext>
                  </ns1:extLst>
                </ns1:hlinkClick>
              </ns1:rPr>
              <ns1:t>打开 3D 网页</ns1:t>
            </ns1:r>
            <ns1:endParaRPr lang="en-US" sz="1600" dirty="0"/>
          </ns1:p>
        </p:txBody>
      </p:sp>
    </p:spTree>
  </p:cSld>
  <p:transition spd="med">
    <p:wipe dir="r"/>
    <p:sndAc>
      <p:stSnd>
        <p:snd r:embed="rId7"/>
      </p:stSnd>
    </p:sndAc>
  </p:transition>
  <p:clrMapOvr>
    <ns1:masterClrMapping/>
  </p:clrMapOvr>
</p:sld>
</file>

<file path=ppt/slides/slide5.xml><?xml version="1.0" encoding="utf-8"?>
<p:sld xmlns:ns1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 name="Slide 5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②：音频插入（可播放）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11247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5" name="Text 3"/>
          <p:cNvSpPr/>
          <p:nvPr/>
        </p:nvSpPr>
        <p:spPr>
          <ns1:xfrm>
            <ns1:off x="1005840" y="1554480"/>
            <ns1:ext cx="1069848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800" b="1" dirty="0">
                <ns1:solidFill>
                  <ns1:srgbClr val="1E3A8A"/>
                </ns1:solidFill>
              </ns1:rPr>
              <ns1:t>点击下方文字（放映模式）播放 1 秒提示音</ns1:t>
            </ns1:r>
            <ns1:endParaRPr lang="en-US" sz="1800" dirty="0"/>
          </ns1:p>
        </p:txBody>
      </p:sp>
      <p:sp>
        <p:nvSpPr>
          <p:cNvPr id="6" name="Shape 4"/>
          <p:cNvSpPr/>
          <p:nvPr/>
        </p:nvSpPr>
        <p:spPr>
          <ns1:xfrm>
            <ns1:off x="1005840" y="2377440"/>
            <ns1:ext cx="10698480" cy="777240"/>
          </ns1:xfrm>
          <ns1:prstGeom prst="roundRect">
            <ns1:avLst/>
          </ns1:prstGeom>
          <ns1:solidFill>
            <ns1:srgbClr val="FFFBE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7" name="Text 5"/>
          <p:cNvSpPr/>
          <p:nvPr/>
        </p:nvSpPr>
        <p:spPr>
          <ns1:xfrm>
            <ns1:off x="1234440" y="2560320"/>
            <ns1:ext cx="102412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▶ 点击此文字播放提示音（1 秒）</ns1:t>
            </ns1:r>
            <ns1:endParaRPr lang="en-US" sz="2000" dirty="0"/>
          </ns1:p>
        </p:txBody>
      </p:sp>
      <p:pic>
        <p:nvPicPr>
          <p:cNvPr id="3" name="Media 0">
            <ns1:hlinkClick r:id="" action="ppaction://media"/>
          </p:cNvPr>
          <p:cNvPicPr>
            <ns1:picLocks noChangeAspect="1"/>
          </p:cNvPicPr>
          <p:nvPr>
            <ns1:videoFile r:link="rId1"/>
            <p:extLst>
              <p:ext uri="{DAA4B4D4-6D71-4841-9C94-3DE7FCFB9230}">
                <ns3:media r:embed="rId2"/>
              </p:ext>
            </p:extLst>
          </p:nvPr>
        </p:nvPicPr>
        <p:blipFill>
          <ns1:blip r:embed="rId3"/>
          <ns1:stretch>
            <ns1:fillRect/>
          </ns1:stretch>
        </p:blipFill>
        <p:spPr>
          <ns1:xfrm>
            <ns1:off x="1005840" y="2377440"/>
            <ns1:ext cx="10698480" cy="777240"/>
          </ns1:xfrm>
          <ns1:prstGeom prst="rect">
            <ns1:avLst/>
          </ns1:prstGeom>
        </p:spPr>
      </p:pic>
      <p:sp>
        <p:nvSpPr>
          <p:cNvPr id="9" name="Text 6"/>
          <p:cNvSpPr/>
          <p:nvPr/>
        </p:nvSpPr>
        <p:spPr>
          <ns1:xfrm>
            <ns1:off x="1005840" y="5303520"/>
            <ns1:ext cx="10698480" cy="54864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</ns1:rPr>
              <ns1:t>兼容性说明：不同平台/PowerPoint 版本对音频格式支持存在差异；以放映模式实际播放为准。</ns1:t>
            </ns1:r>
            <ns1:endParaRPr lang="en-US" sz="1200" dirty="0"/>
          </ns1:p>
        </p:txBody>
      </p:sp>
    </p:spTree>
  </p:cSld>
  <p:transition spd="med">
    <p:push dir="l"/>
    <p:sndAc>
      <p:stSnd>
        <p:snd r:embed="rId6"/>
      </p:stSnd>
    </p:sndAc>
  </p:transition>
  <p:clrMapOvr>
    <ns1:masterClrMapping/>
  </p:clrMapOvr>
</p:sld>
</file>

<file path=ppt/slides/slide6.xml><?xml version="1.0" encoding="utf-8"?>
<p:sld xmlns:ns1="http://schemas.openxmlformats.org/drawingml/2006/main" xmlns:p="http://schemas.openxmlformats.org/presentationml/2006/main" xmlns:r="http://schemas.openxmlformats.org/officeDocument/2006/relationships">
  <p:cSld name="Slide 6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③：GIF 动图生成 + 插入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658368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pic>
        <p:nvPicPr>
          <p:cNvPr id="5" name="Image 0" descr="/sessions/69df52905d6dce82aeb26f97/workspace/item_fille/trae mtc能力梳理及演示/assets/3D_图表旋转演示.gif">    </p:cNvPr>
          <p:cNvPicPr>
            <ns1:picLocks noChangeAspect="1"/>
          </p:cNvPicPr>
          <p:nvPr/>
        </p:nvPicPr>
        <p:blipFill>
          <ns1:blip r:embed="rId1"/>
          <ns1:stretch>
            <ns1:fillRect/>
          </ns1:stretch>
        </p:blipFill>
        <p:spPr>
          <ns1:xfrm>
            <ns1:off x="960120" y="1508760"/>
            <ns1:ext cx="6126480" cy="4297680"/>
          </ns1:xfrm>
          <ns1:prstGeom prst="rect">
            <ns1:avLst/>
          </ns1:prstGeom>
        </p:spPr>
      </p:pic>
      <p:sp>
        <p:nvSpPr>
          <p:cNvPr id="6" name="Shape 3"/>
          <p:cNvSpPr/>
          <p:nvPr/>
        </p:nvSpPr>
        <p:spPr>
          <ns1:xfrm>
            <ns1:off x="7589520" y="1280160"/>
            <ns1:ext cx="4389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7" name="Text 4"/>
          <p:cNvSpPr/>
          <p:nvPr/>
        </p:nvSpPr>
        <p:spPr>
          <ns1:xfrm>
            <ns1:off x="7863840" y="1600200"/>
            <ns1:ext cx="3840480" cy="292608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说明：GIF 由 assets/excel_preview-*.jpg 合成。</ns1:t>
            </ns1:r>
            <ns1:endParaRPr lang="en-US" sz="1400" dirty="0"/>
          </ns1:p>
          <ns1:p>
            <ns1:pPr indent="0" marL="0">
              <ns1:buNone/>
            </ns1:pPr>
            <ns1:endParaRPr lang="en-US" sz="1400" dirty="0"/>
          </ns1:p>
          <ns1:p>
            <ns1:pPr indent="0" marL="0">
              <ns1:buNone/>
            </ns1:pPr>
            <ns1:r>
              <ns1:rPr lang="en-US" sz="1400" dirty="0">
                <ns1:solidFill>
                  <ns1:srgbClr val="1E3A8A"/>
                </ns1:solidFill>
              </ns1:rPr>
              <ns1:t>兼容性：部分旧版 PowerPoint 可能仅在放映模式播放动图。</ns1:t>
            </ns1:r>
            <ns1:endParaRPr lang="en-US" sz="1400" dirty="0"/>
          </ns1:p>
        </p:txBody>
      </p:sp>
    </p:spTree>
  </p:cSld>
  <p:transition spd="med">
    <p:split orient="horz" dir="in"/>
    <p:sndAc>
      <p:stSnd>
        <p:snd r:embed="rId4"/>
      </p:stSnd>
    </p:sndAc>
  </p:transition>
  <p:clrMapOvr>
    <ns1:masterClrMapping/>
  </p:clrMapOvr>
</p:sld>
</file>

<file path=ppt/slides/slide7.xml><?xml version="1.0" encoding="utf-8"?>
<p:sld xmlns:ns1="http://schemas.openxmlformats.org/drawingml/2006/main" xmlns:ns2="http://schemas.microsoft.com/office/powerpoint/2010/main" xmlns:ns4="http://schemas.microsoft.com/office/drawing/2018/hyperlinkcolor" xmlns:p="http://schemas.openxmlformats.org/presentationml/2006/main" xmlns:r="http://schemas.openxmlformats.org/officeDocument/2006/relationships">
  <p:cSld name="Slide 7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工具 Demo ④：Excel 表格 → PPT 可编辑 Table（非截图）</ns1:t>
            </ns1:r>
            <ns1:endParaRPr lang="en-US" sz="2400" dirty="0"/>
          </ns1:p>
        </p:txBody>
      </p:sp>
      <p:sp>
        <p:nvSpPr>
          <p:cNvPr id="4" name="Shape 2"/>
          <p:cNvSpPr/>
          <p:nvPr/>
        </p:nvSpPr>
        <p:spPr>
          <ns1:xfrm>
            <ns1:off x="731520" y="1280160"/>
            <ns1:ext cx="11247120" cy="47548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BD5E1"/>
            </ns1:solidFill>
            <ns1:prstDash val="solid"/>
          </ns1:ln>
          <ns1:effectLst>
            <ns1:outerShdw sx="100000" sy="100000" kx="0" ky="0" algn="bl" rotWithShape="0" blurRad="76200" dist="25400" dir="2700000">
              <ns1:srgbClr val="000000">
                <ns1:alpha val="12000"/>
              </ns1:srgbClr>
            </ns1:outerShdw>
          </ns1:effectLst>
        </p:spPr>
      </p:sp>
      <p:sp>
        <p:nvSpPr>
          <p:cNvPr id="5" name="Text 3"/>
          <p:cNvSpPr/>
          <p:nvPr/>
        </p:nvSpPr>
        <p:spPr>
          <ns1:xfrm>
            <ns1:off x="1005840" y="1463040"/>
            <ns1:ext cx="10698480" cy="3657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1200" dirty="0">
                <ns1:solidFill>
                  <ns1:srgbClr val="64748B"/>
                </ns1:solidFill>
              </ns1:rPr>
              <ns1:t>来源：MTC_复杂Excel模型.xlsx / QualityGate（门禁 PASS/FAIL）</ns1:t>
            </ns1:r>
            <ns1:endParaRPr lang="en-US" sz="1200" dirty="0"/>
          </ns1:p>
        </p:txBody>
      </p:sp>
      <p:graphicFrame>
        <p:nvGraphicFramePr>
          <p:cNvPr id="8" name="Table 0"/>
          <p:cNvGraphicFramePr>
            <ns1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ns1:off x="1005840" y="1874520"/>
          <ns1:ext cx="10698480" cy="3840480"/>
        </p:xfrm>
        <ns1:graphic>
          <ns1:graphicData uri="http://schemas.openxmlformats.org/drawingml/2006/table">
            <ns1:tbl>
              <ns1:tblPr/>
              <ns1:tblGrid>
                <ns1:gridCol w="2674620"/>
                <ns1:gridCol w="2674620"/>
                <ns1:gridCol w="2674620"/>
                <ns1:gridCol w="2674620"/>
              </ns1:tblGrid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b="1" dirty="0">
                          <ns1:solidFill>
                            <ns1:srgbClr val="FFFFFF"/>
                          </ns1:solidFill>
                        </ns1:rPr>
                        <ns1:t>数据质量门禁（Poka‑Yoke）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1E40A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总状态：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=IF(COUNTIF(D4:D8,"FAIL")&gt;0,"FAIL","PASS")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检查项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公式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当前值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判定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日期缺失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=COUNTBLANK(Data!A2:A361)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=COUNTBLANK(Data!A2:A361)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=IF(C4&lt;=0,"PASS","FAIL")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区域缺失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=COUNTBLANK(Data!B2:B361)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=COUNTBLANK(Data!B2:B361)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=IF(C5&lt;=0,"PASS","FAIL")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产品缺失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=COUNTBLANK(Data!C2:C361)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=COUNTBLANK(Data!C2:C361)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=IF(C6&lt;=0,"PASS","FAIL")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销量&lt;=0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=COUNTIF(Data!D2:D361,"&lt;=0")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=COUNTIF(Data!D2:D361,"&lt;=0")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=IF(C7&lt;=0,"PASS","FAIL")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80060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收入&lt;=0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=COUNTIF(Data!F2:F361,"&lt;=0")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=COUNTIF(Data!F2:F361,"&lt;=0")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100" dirty="0">
                          <ns1:solidFill>
                            <ns1:srgbClr val="1E3A8A"/>
                          </ns1:solidFill>
                        </ns1:rPr>
                        <ns1:t>=IF(C8&lt;=0,"PASS","FAIL")</ns1:t>
                      </ns1:r>
                      <ns1:endParaRPr lang="en-US" sz="1100" dirty="0"/>
                    </ns1:p>
                  </ns1:txBody>
                  <ns1:tcPr marL="91440" marR="91440" marT="45720" marB="45720" anchor="ctr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p:graphicFrame>
      <p:sp>
        <p:nvSpPr>
          <p:cNvPr id="7" name="Shape 4"/>
          <p:cNvSpPr/>
          <p:nvPr/>
        </p:nvSpPr>
        <p:spPr>
          <ns1:xfrm>
            <ns1:off x="8412480" y="5806440"/>
            <ns1:ext cx="3291840" cy="457200"/>
          </ns1:xfrm>
          <ns1:prstGeom prst="roundRect">
            <ns1:avLst/>
          </ns1:prstGeom>
          <ns1:solidFill>
            <ns1:srgbClr val="F59E0B"/>
          </ns1:solidFill>
          <ns1:ln w="12700">
            <ns1:solidFill>
              <ns1:srgbClr val="F59E0B"/>
            </ns1:solidFill>
            <ns1:prstDash val="solid"/>
          </ns1:ln>
        </p:spPr>
      </p:sp>
      <p:sp>
        <p:nvSpPr>
          <p:cNvPr id="8" name="Text 5">
            <ns1:hlinkClick r:id="rId1" tooltip=""/>
          </p:cNvPr>
          <p:cNvSpPr/>
          <p:nvPr/>
        </p:nvSpPr>
        <p:spPr>
          <ns1:xfrm>
            <ns1:off x="8412480" y="5897880"/>
            <ns1:ext cx="3291840" cy="36576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algn="ctr" indent="0" marL="0">
              <ns1:buNone/>
            </ns1:pPr>
            <ns1:r>
              <ns1:rPr lang="en-US" sz="1600" b="1" u="sng" dirty="0">
                <ns1:solidFill>
                  <ns1:srgbClr val="111827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  <ns1:hlinkClick r:id="rId1" invalidUrl="" action="" tgtFrame="" tooltip="" history="1" highlightClick="0" endSnd="0">
                  <ns1:extLst>
                    <ns1:ext uri="{A12FA001-AC4F-418D-AE19-62706E023703}">
                      <ns4:hlinkClr val="tx"/>
                    </ns1:ext>
                  </ns1:extLst>
                </ns1:hlinkClick>
              </ns1:rPr>
              <ns1:t>回源打开 Excel</ns1:t>
            </ns1:r>
            <ns1:endParaRPr lang="en-US" sz="1600" dirty="0"/>
          </ns1:p>
        </p:txBody>
      </p:sp>
    </p:spTree>
  </p:cSld>
  <p:transition spd="med">
    <p:randomBar dir="vert"/>
    <p:sndAc>
      <p:stSnd>
        <p:snd r:embed="rId4"/>
      </p:stSnd>
    </p:sndAc>
  </p:transition>
  <p:clrMapOvr>
    <ns1:masterClrMapping/>
  </p:clrMapOvr>
</p:sld>
</file>

<file path=ppt/slides/slide8.xml><?xml version="1.0" encoding="utf-8"?>
<p:sld xmlns:ns1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8">
    <p:bg>
      <p:bgPr>
        <ns1:solidFill>
          <ns1:srgbClr val="F8FAFC"/>
        </ns1:solidFill>
      </p:bgPr>
    </p:bg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Shape 0"/>
          <p:cNvSpPr/>
          <p:nvPr/>
        </p:nvSpPr>
        <p:spPr>
          <ns1:xfrm>
            <ns1:off x="457200" y="274320"/>
            <ns1:ext cx="11247120" cy="685800"/>
          </ns1:xfrm>
          <ns1:prstGeom prst="roundRect">
            <ns1:avLst/>
          </ns1:prstGeom>
          <ns1:solidFill>
            <ns1:srgbClr val="1E40AF"/>
          </ns1:solidFill>
          <ns1:ln w="12700">
            <ns1:solidFill>
              <ns1:srgbClr val="1E40AF"/>
            </ns1:solidFill>
            <ns1:prstDash val="solid"/>
          </ns1:ln>
        </p:spPr>
      </p:sp>
      <p:sp>
        <p:nvSpPr>
          <p:cNvPr id="3" name="Text 1"/>
          <p:cNvSpPr/>
          <p:nvPr/>
        </p:nvSpPr>
        <p:spPr>
          <ns1:xfrm>
            <ns1:off x="731520" y="384048"/>
            <ns1:ext cx="10698480" cy="457200"/>
          </ns1:xfrm>
          <ns1:prstGeom prst="rect">
            <ns1:avLst/>
          </ns1:prstGeom>
          <ns1:noFill/>
          <ns1:ln/>
        </p:spPr>
        <p:txBody>
          <ns1:bodyPr wrap="square" rtlCol="0" anchor="ctr"/>
          <ns1:lstStyle/>
          <ns1:p>
            <ns1:pPr indent="0" marL="0">
              <ns1:buNone/>
            </ns1:pPr>
            <ns1:r>
              <ns1:rPr lang="en-US" sz="24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证据矩阵：每个“工具点”怎么核验</ns1:t>
            </ns1:r>
            <ns1:endParaRPr lang="en-US" sz="2400" dirty="0"/>
          </ns1:p>
        </p:txBody>
      </p:sp>
      <p:graphicFrame>
        <p:nvGraphicFramePr>
          <p:cNvPr id="9" name="Table 0"/>
          <p:cNvGraphicFramePr>
            <ns1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ns1:off x="731520" y="1280160"/>
          <ns1:ext cx="11247120" cy="4937760"/>
        </p:xfrm>
        <ns1:graphic>
          <ns1:graphicData uri="http://schemas.openxmlformats.org/drawingml/2006/table">
            <ns1:tbl>
              <ns1:tblPr/>
              <ns1:tblGrid>
                <ns1:gridCol w="2194560"/>
                <ns1:gridCol w="4480560"/>
                <ns1:gridCol w="4572000"/>
              </ns1:tblGrid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工具点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证据（文件/对象）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核验动作（你能复现）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视频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assets/3D_图表旋转演示.mp4（已嵌入）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放映模式点击播放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音频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assets/mtc_beep_1s.wav（已嵌入）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放映模式点击音频图标播放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GIF 动图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assets/excel_preview_anim.gif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放映模式观察动效（版本差异见备注）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Excel 表格→PPT Table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QualityGate 区域数据（addTable）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在 PPT 内直接编辑单元格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Transition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slideX.xml 中 &lt;p:transition&gt;（后处理加入）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放映时观察页面切换效果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705394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Speaker Notes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notesSlides/notesSlide*.xml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200" dirty="0">
                          <ns1:solidFill>
                            <ns1:srgbClr val="000000"/>
                          </ns1:solidFill>
                        </ns1:rPr>
                        <ns1:t>在 PowerPoint 打开备注窗格查看讲解脚本</ns1:t>
                      </ns1:r>
                      <ns1:endParaRPr lang="en-US" sz="1200" dirty="0"/>
                    </ns1:p>
                  </ns1:txBody>
                  <ns1:tcPr marL="91440" marR="91440" marT="45720" marB="45720">
                    <ns1:lnL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12700" cap="flat" cmpd="sng" algn="ctr">
                      <ns1:solidFill>
                        <ns1:srgbClr val="CBD5E1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p:graphicFrame>
    </p:spTree>
  </p:cSld>
  <p:transition spd="med">
    <p:zoom dir="out"/>
    <p:sndAc>
      <p:stSnd>
        <p:snd r:embed="rId3"/>
      </p:stSnd>
    </p:sndAc>
  </p:transition>
  <p:clrMapOvr>
    <ns1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边界说明（必须写清楚）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1) “插入对象（OLE）把 Excel 嵌入为图标”在自动化生成层面通常受限：本项目采用“附件入口 + 图标 + 超链接”替代，并保持可核验。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2) 录屏类素材：可生成演示用合成视频/动效，不替代真实 OS 级录屏证据。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3) 跨平台提示：Excel for Mac 打开 PPT 建议使用 Office URI Scheme（详见 00_error/00_README）。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4) 元素级动画（如：旋转、飞入等）需要复杂的时间线/动画节点（OOXML timing）；当前自动化链路默认不做稳定性承诺。本版用：页面切换 transition + GIF/视频 + 分步多页替代。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交付物清单（可复核）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1247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0020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MTC_能力演示.pptx（本文件：含视频/音频/GIF/Table/Transition/Notes）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MTC_复杂Excel模型.xlsx（Excel 武器库示例）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interactive/3D_可交互销售仪表盘.html（本地交互式图表）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assets/（图片/视频/PDF/GIF/音频等 supporting assets）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project_context/（需求、设计系统、能力矩阵、升级说明、全局对话纪要）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• 00_error/（可复用坑型沉淀：Mac 超链接、Office 锁文件等）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TRAE SOLO (MTC)</dc:creator>
  <cp:lastModifiedBy>TRAE SOLO (MTC)</cp:lastModifiedBy>
  <cp:revision>1</cp:revision>
  <dcterms:created xsi:type="dcterms:W3CDTF">2026-04-15T15:46:41Z</dcterms:created>
  <dcterms:modified xsi:type="dcterms:W3CDTF">2026-04-15T15:46:41Z</dcterms:modified>
</cp:coreProperties>
</file>